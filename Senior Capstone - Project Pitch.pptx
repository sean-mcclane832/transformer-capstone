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 SemiBold"/>
      <p:regular r:id="rId19"/>
      <p:bold r:id="rId20"/>
      <p:italic r:id="rId21"/>
      <p:boldItalic r:id="rId22"/>
    </p:embeddedFont>
    <p:embeddedFont>
      <p:font typeface="Plus Jakarta Sans"/>
      <p:regular r:id="rId23"/>
      <p:bold r:id="rId24"/>
      <p:italic r:id="rId25"/>
      <p:boldItalic r:id="rId26"/>
    </p:embeddedFont>
    <p:embeddedFont>
      <p:font typeface="Inter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526CC78-F0FD-4CB4-AA66-EF4434D1AB87}">
  <a:tblStyle styleId="{B526CC78-F0FD-4CB4-AA66-EF4434D1AB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.fntdata"/><Relationship Id="rId22" Type="http://schemas.openxmlformats.org/officeDocument/2006/relationships/font" Target="fonts/InterSemiBold-boldItalic.fntdata"/><Relationship Id="rId21" Type="http://schemas.openxmlformats.org/officeDocument/2006/relationships/font" Target="fonts/InterSemiBold-italic.fntdata"/><Relationship Id="rId24" Type="http://schemas.openxmlformats.org/officeDocument/2006/relationships/font" Target="fonts/PlusJakartaSans-bold.fntdata"/><Relationship Id="rId23" Type="http://schemas.openxmlformats.org/officeDocument/2006/relationships/font" Target="fonts/PlusJakarta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boldItalic.fntdata"/><Relationship Id="rId25" Type="http://schemas.openxmlformats.org/officeDocument/2006/relationships/font" Target="fonts/PlusJakartaSans-italic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7a35d4ba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7a35d4ba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2.png"/><Relationship Id="rId5" Type="http://schemas.openxmlformats.org/officeDocument/2006/relationships/image" Target="../media/image32.png"/><Relationship Id="rId6" Type="http://schemas.openxmlformats.org/officeDocument/2006/relationships/image" Target="../media/image26.png"/><Relationship Id="rId7" Type="http://schemas.openxmlformats.org/officeDocument/2006/relationships/image" Target="../media/image15.png"/><Relationship Id="rId8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34.png"/><Relationship Id="rId6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5" y="3878460"/>
            <a:ext cx="20002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420790" y="1931640"/>
            <a:ext cx="3350418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</a:t>
            </a:r>
            <a:r>
              <a:rPr b="1" i="0" lang="en-US" sz="63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GPT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28912" y="2906910"/>
            <a:ext cx="67341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and Training a Transformer Language Model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57862" y="4173735"/>
            <a:ext cx="676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Sean Hall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095875" y="4411860"/>
            <a:ext cx="2000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MATES Class of 2026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Senior Capstone Project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530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1457325"/>
            <a:ext cx="3530649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9850" y="1457325"/>
            <a:ext cx="3530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866775" y="2314575"/>
            <a:ext cx="30869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Bengio et al. (2003)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667000"/>
            <a:ext cx="293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"A Neural Probabilistic Language Model"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3333750"/>
            <a:ext cx="2939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Introduced distributed word representations to solve the curse of dimensionality in language modeling.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25875" y="2314575"/>
            <a:ext cx="30871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Vaswani et al. (2017)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625875" y="2667000"/>
            <a:ext cx="294009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"Attention Is All You Need"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25875" y="3048000"/>
            <a:ext cx="29400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definitive Transformer architecture. Replaced recurrence with self-attention for massive parallelization.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85125" y="2314575"/>
            <a:ext cx="30869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Radford et al. (2019)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385125" y="2667000"/>
            <a:ext cx="293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"LMs are Unsupervised Multitask Learners"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85125" y="3333750"/>
            <a:ext cx="2939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Demonstrated GPT-2's ability to perform zero-shot tasks without explicit supervision or parameter tuning.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811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5875" y="17811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5125" y="17811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Research Foundations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5732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124075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Recreating GPT architecture on a computationally feasible scale to understand LLM fundamentals.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46685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704850" y="28860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28860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Decoder-Only Structure: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Focused on next-token prediction.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704850" y="34575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09625" y="34575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Manual Implementation: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Built from atomic components without high-level APIs.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04850" y="4029075"/>
            <a:ext cx="1047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09625" y="4029075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Transparency: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Deconstructing the "black box" through active engineering.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Project Vision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4338" y="0"/>
            <a:ext cx="494332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52387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457325"/>
            <a:ext cx="523875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66775" y="2314575"/>
            <a:ext cx="488061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Opaque Internals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2667000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models are often used without an understanding of the underlying mathematical logic and data flow.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677025" y="2314575"/>
            <a:ext cx="488061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Knowledge Gap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677025" y="2667000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Entry-level positions increasingly demand deeper architectural knowledge beyond simple API consumption.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178117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178117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Problem: Black Box Dynamics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5305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600" y="1457325"/>
            <a:ext cx="3530649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9850" y="1457325"/>
            <a:ext cx="35305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866775" y="2314575"/>
            <a:ext cx="30869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Career Stepping Stone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866775" y="2667000"/>
            <a:ext cx="2939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Builds a high-value skill set for the competitive AI job market.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25875" y="2314575"/>
            <a:ext cx="308710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Mastery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4625875" y="2667000"/>
            <a:ext cx="29400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Deep dive into linear algebra, calculus, and neural network optimization.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385125" y="2314575"/>
            <a:ext cx="308694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Legacy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385125" y="2667000"/>
            <a:ext cx="2939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Provides a technical reference for future student research in AI/ML.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178117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5875" y="178117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85125" y="178117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Why This Matters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/>
          <p:nvPr/>
        </p:nvSpPr>
        <p:spPr>
          <a:xfrm>
            <a:off x="571500" y="1457325"/>
            <a:ext cx="11049000" cy="2914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9"/>
          <p:cNvGraphicFramePr/>
          <p:nvPr/>
        </p:nvGraphicFramePr>
        <p:xfrm>
          <a:off x="571500" y="1457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{B526CC78-F0FD-4CB4-AA66-EF4434D1AB87}</a:tableStyleId>
              </a:tblPr>
              <a:tblGrid>
                <a:gridCol w="5361975"/>
                <a:gridCol w="5687025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In-Scope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Out-of-Scope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Decoder-only Transformer</a:t>
                      </a: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implementation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Large-scale training (multi-billion parameters)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BPE Tokenizer</a:t>
                      </a: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training &amp; vocabulary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Distributed training across clusters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Training metrics: </a:t>
                      </a: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Loss &amp; Perplexity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Reinforcement Learning (RLHF)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Prompt-based inference interface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Multimodal inputs (Image/Audio)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9"/>
          <p:cNvSpPr/>
          <p:nvPr/>
        </p:nvSpPr>
        <p:spPr>
          <a:xfrm>
            <a:off x="571500" y="2033587"/>
            <a:ext cx="53619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933479" y="2033587"/>
            <a:ext cx="56870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571500" y="2614612"/>
            <a:ext cx="53619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5933479" y="2614612"/>
            <a:ext cx="56870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3195637"/>
            <a:ext cx="53619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5933479" y="3195637"/>
            <a:ext cx="56870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571500" y="3776662"/>
            <a:ext cx="53619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933479" y="3776662"/>
            <a:ext cx="56870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571500" y="4357687"/>
            <a:ext cx="536197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933479" y="4357687"/>
            <a:ext cx="568702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Scope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71500" y="145732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Causal Masking: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Ensuring future tokens are hidden.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188595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Embeddings: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Learning high-dim vector spaces.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2314575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Multi-Head Attention: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Scaled dot-product logic.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71500" y="2743200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Residual Paths: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Facilitating deeper training.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71500" y="5715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Core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25908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0900" y="1457325"/>
            <a:ext cx="25908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0300" y="1457325"/>
            <a:ext cx="259080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9700" y="1457325"/>
            <a:ext cx="2590800" cy="14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327660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Leveraging GPU acceleration on local hardware for optimized training cycles.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866775" y="23145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Python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3686175" y="23145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PyTorch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505575" y="23145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324975" y="2314575"/>
            <a:ext cx="2000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CUDA GPU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33550" y="17811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52950" y="178117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58062" y="1781175"/>
            <a:ext cx="29527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172700" y="178117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Tech Stack</a:t>
            </a:r>
            <a:endParaRPr/>
          </a:p>
        </p:txBody>
      </p:sp>
      <p:sp>
        <p:nvSpPr>
          <p:cNvPr id="216" name="Google Shape;216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35559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457325"/>
            <a:ext cx="35559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457325"/>
            <a:ext cx="3556099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5559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476500"/>
            <a:ext cx="35559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76500"/>
            <a:ext cx="3556099" cy="82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790575" y="1647825"/>
            <a:ext cx="314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1 (Wks 1-2)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90575" y="190500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Setup &amp; Tokenizer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4537025" y="1647825"/>
            <a:ext cx="314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2 (Wks 3-4)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537025" y="19050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8283475" y="1647825"/>
            <a:ext cx="31465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3 (Wks 5-6)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8283475" y="1905000"/>
            <a:ext cx="1038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Logic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790575" y="2667000"/>
            <a:ext cx="314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4 (Wks 7-9)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790575" y="2924175"/>
            <a:ext cx="1257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Training Baseline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37025" y="2667000"/>
            <a:ext cx="3146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5 (Wks 10-12)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4537025" y="2924175"/>
            <a:ext cx="1019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Inference &amp; UI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8283475" y="2667000"/>
            <a:ext cx="3146524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Phase 6 (Wks 13-17)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8283475" y="2924175"/>
            <a:ext cx="1152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Analysis &amp; Final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Execution Timeline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6" name="Google Shape;24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3"/>
          <p:cNvSpPr txBox="1"/>
          <p:nvPr/>
        </p:nvSpPr>
        <p:spPr>
          <a:xfrm>
            <a:off x="904875" y="145732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Functional Model: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Fully implemented transformer model.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904875" y="19335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Coherent Generation: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Capable of prompt-based text synthesis.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904875" y="240982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Performance: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Target to match or exceed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GPT-2 benchmarks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on specific zero-shot tasks.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04875" y="288607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Visualizations: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Clear metrics on loss reduction and perplexity trends.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904875" y="3362325"/>
            <a:ext cx="10715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Working Interface: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 functional system for live demonstrations.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Expected Outcomes</a:t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335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982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860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232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3350656" y="2352675"/>
            <a:ext cx="5490686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Feedback?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4700587" y="3495675"/>
            <a:ext cx="27908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Questions and Comments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4824412" y="4314825"/>
            <a:ext cx="2543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MiniGPT | Sean Hall | MATES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